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88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62B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62B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62B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62B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5463" y="1"/>
            <a:ext cx="4288536" cy="493030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385316"/>
            <a:ext cx="9144000" cy="37581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39" y="3011424"/>
            <a:ext cx="3980688" cy="72694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4722876"/>
            <a:ext cx="4680585" cy="421005"/>
          </a:xfrm>
          <a:custGeom>
            <a:avLst/>
            <a:gdLst/>
            <a:ahLst/>
            <a:cxnLst/>
            <a:rect l="l" t="t" r="r" b="b"/>
            <a:pathLst>
              <a:path w="4680585" h="421004">
                <a:moveTo>
                  <a:pt x="4680204" y="0"/>
                </a:moveTo>
                <a:lnTo>
                  <a:pt x="0" y="0"/>
                </a:lnTo>
                <a:lnTo>
                  <a:pt x="0" y="420624"/>
                </a:lnTo>
                <a:lnTo>
                  <a:pt x="4680204" y="420624"/>
                </a:lnTo>
                <a:lnTo>
                  <a:pt x="4680204" y="0"/>
                </a:lnTo>
                <a:close/>
              </a:path>
            </a:pathLst>
          </a:custGeom>
          <a:solidFill>
            <a:srgbClr val="008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722876"/>
            <a:ext cx="4680585" cy="421005"/>
          </a:xfrm>
          <a:custGeom>
            <a:avLst/>
            <a:gdLst/>
            <a:ahLst/>
            <a:cxnLst/>
            <a:rect l="l" t="t" r="r" b="b"/>
            <a:pathLst>
              <a:path w="4680585" h="421004">
                <a:moveTo>
                  <a:pt x="0" y="0"/>
                </a:moveTo>
                <a:lnTo>
                  <a:pt x="4680204" y="0"/>
                </a:lnTo>
                <a:lnTo>
                  <a:pt x="4680204" y="420624"/>
                </a:lnTo>
              </a:path>
            </a:pathLst>
          </a:custGeom>
          <a:ln w="9144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224" y="175399"/>
            <a:ext cx="4443730" cy="767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62B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3556" y="2383533"/>
            <a:ext cx="6394450" cy="1866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9058" y="4727820"/>
            <a:ext cx="168909" cy="202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455" y="3744446"/>
            <a:ext cx="5630545" cy="131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4880">
              <a:lnSpc>
                <a:spcPct val="100000"/>
              </a:lnSpc>
              <a:spcBef>
                <a:spcPts val="100"/>
              </a:spcBef>
              <a:tabLst>
                <a:tab pos="2596515" algn="l"/>
              </a:tabLst>
            </a:pPr>
            <a:r>
              <a:rPr sz="2400" b="1" spc="229" dirty="0">
                <a:solidFill>
                  <a:srgbClr val="FFFFFF"/>
                </a:solidFill>
                <a:latin typeface="Trebuchet MS"/>
                <a:cs typeface="Trebuchet MS"/>
              </a:rPr>
              <a:t>Сетев</a:t>
            </a:r>
            <a:r>
              <a:rPr sz="2400" b="1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120" dirty="0">
                <a:solidFill>
                  <a:srgbClr val="FFFFFF"/>
                </a:solidFill>
                <a:latin typeface="Trebuchet MS"/>
                <a:cs typeface="Trebuchet MS"/>
              </a:rPr>
              <a:t>ые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b="1" spc="185" dirty="0">
                <a:solidFill>
                  <a:srgbClr val="FFFFFF"/>
                </a:solidFill>
                <a:latin typeface="Trebuchet MS"/>
                <a:cs typeface="Trebuchet MS"/>
              </a:rPr>
              <a:t>тех</a:t>
            </a:r>
            <a:r>
              <a:rPr sz="2400" b="1" spc="-4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150" dirty="0">
                <a:solidFill>
                  <a:srgbClr val="FFFFFF"/>
                </a:solidFill>
                <a:latin typeface="Trebuchet MS"/>
                <a:cs typeface="Trebuchet MS"/>
              </a:rPr>
              <a:t>но</a:t>
            </a:r>
            <a:r>
              <a:rPr sz="2400" b="1" spc="-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л</a:t>
            </a:r>
            <a:r>
              <a:rPr sz="2400" b="1" spc="-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о</a:t>
            </a:r>
            <a:r>
              <a:rPr sz="2400" b="1" spc="-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195" dirty="0">
                <a:solidFill>
                  <a:srgbClr val="FFFFFF"/>
                </a:solidFill>
                <a:latin typeface="Trebuchet MS"/>
                <a:cs typeface="Trebuchet MS"/>
              </a:rPr>
              <a:t>гии.</a:t>
            </a:r>
            <a:endParaRPr sz="2400">
              <a:latin typeface="Trebuchet MS"/>
              <a:cs typeface="Trebuchet MS"/>
            </a:endParaRPr>
          </a:p>
          <a:p>
            <a:pPr marL="944880">
              <a:lnSpc>
                <a:spcPct val="100000"/>
              </a:lnSpc>
              <a:tabLst>
                <a:tab pos="3614420" algn="l"/>
                <a:tab pos="4977130" algn="l"/>
                <a:tab pos="5438775" algn="l"/>
              </a:tabLst>
            </a:pP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Л</a:t>
            </a:r>
            <a:r>
              <a:rPr sz="2400" b="1" spc="-4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2400" b="1" spc="-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rebuchet MS"/>
                <a:cs typeface="Trebuchet MS"/>
              </a:rPr>
              <a:t>б</a:t>
            </a:r>
            <a:r>
              <a:rPr sz="2400" b="1" spc="-40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195" dirty="0">
                <a:solidFill>
                  <a:srgbClr val="FFFFFF"/>
                </a:solidFill>
                <a:latin typeface="Trebuchet MS"/>
                <a:cs typeface="Trebuchet MS"/>
              </a:rPr>
              <a:t>ора</a:t>
            </a:r>
            <a:r>
              <a:rPr sz="2400" b="1" spc="-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220" dirty="0">
                <a:solidFill>
                  <a:srgbClr val="FFFFFF"/>
                </a:solidFill>
                <a:latin typeface="Trebuchet MS"/>
                <a:cs typeface="Trebuchet MS"/>
              </a:rPr>
              <a:t>торн</a:t>
            </a:r>
            <a:r>
              <a:rPr sz="2400" b="1" spc="-4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rebuchet MS"/>
                <a:cs typeface="Trebuchet MS"/>
              </a:rPr>
              <a:t>а</a:t>
            </a:r>
            <a:r>
              <a:rPr sz="2400" b="1" spc="-4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Trebuchet MS"/>
                <a:cs typeface="Trebuchet MS"/>
              </a:rPr>
              <a:t>я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b="1" spc="130" dirty="0">
                <a:solidFill>
                  <a:srgbClr val="FFFFFF"/>
                </a:solidFill>
                <a:latin typeface="Trebuchet MS"/>
                <a:cs typeface="Trebuchet MS"/>
              </a:rPr>
              <a:t>ра</a:t>
            </a:r>
            <a:r>
              <a:rPr sz="2400" b="1" spc="-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rebuchet MS"/>
                <a:cs typeface="Trebuchet MS"/>
              </a:rPr>
              <a:t>б</a:t>
            </a:r>
            <a:r>
              <a:rPr sz="2400" b="1" spc="-4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165" dirty="0">
                <a:solidFill>
                  <a:srgbClr val="FFFFFF"/>
                </a:solidFill>
                <a:latin typeface="Trebuchet MS"/>
                <a:cs typeface="Trebuchet MS"/>
              </a:rPr>
              <a:t>ота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Trebuchet MS"/>
                <a:cs typeface="Trebuchet MS"/>
              </a:rPr>
              <a:t>№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55"/>
              </a:spcBef>
            </a:pPr>
            <a:r>
              <a:rPr sz="1700" i="1" dirty="0">
                <a:solidFill>
                  <a:srgbClr val="FFFFFF"/>
                </a:solidFill>
                <a:latin typeface="Trebuchet MS"/>
                <a:cs typeface="Trebuchet MS"/>
              </a:rPr>
              <a:t>Открой</a:t>
            </a:r>
            <a:r>
              <a:rPr sz="1700" i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FFFFFF"/>
                </a:solidFill>
                <a:latin typeface="Trebuchet MS"/>
                <a:cs typeface="Trebuchet MS"/>
              </a:rPr>
              <a:t>Мир</a:t>
            </a:r>
            <a:r>
              <a:rPr sz="1700" i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r>
              <a:rPr sz="1700" i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FFFFFF"/>
                </a:solidFill>
                <a:latin typeface="Trebuchet MS"/>
                <a:cs typeface="Trebuchet MS"/>
              </a:rPr>
              <a:t>одном</a:t>
            </a:r>
            <a:r>
              <a:rPr sz="1700" i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00" i="1" spc="-10" dirty="0">
                <a:solidFill>
                  <a:srgbClr val="FFFFFF"/>
                </a:solidFill>
                <a:latin typeface="Trebuchet MS"/>
                <a:cs typeface="Trebuchet MS"/>
              </a:rPr>
              <a:t>Университете!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291" y="173126"/>
            <a:ext cx="31407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rebuchet MS"/>
                <a:cs typeface="Trebuchet MS"/>
              </a:rPr>
              <a:t>В</a:t>
            </a:r>
            <a:r>
              <a:rPr sz="1600" b="1" spc="-190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ы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140" dirty="0">
                <a:latin typeface="Trebuchet MS"/>
                <a:cs typeface="Trebuchet MS"/>
              </a:rPr>
              <a:t>по</a:t>
            </a:r>
            <a:r>
              <a:rPr sz="1600" b="1" spc="-175" dirty="0">
                <a:latin typeface="Trebuchet MS"/>
                <a:cs typeface="Trebuchet MS"/>
              </a:rPr>
              <a:t> </a:t>
            </a:r>
            <a:r>
              <a:rPr sz="1600" b="1" spc="140" dirty="0">
                <a:latin typeface="Trebuchet MS"/>
                <a:cs typeface="Trebuchet MS"/>
              </a:rPr>
              <a:t>лн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и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114" dirty="0">
                <a:latin typeface="Trebuchet MS"/>
                <a:cs typeface="Trebuchet MS"/>
              </a:rPr>
              <a:t>л 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469390" algn="l"/>
              </a:tabLst>
            </a:pPr>
            <a:r>
              <a:rPr sz="1600" b="1" dirty="0">
                <a:latin typeface="Trebuchet MS"/>
                <a:cs typeface="Trebuchet MS"/>
              </a:rPr>
              <a:t>С</a:t>
            </a:r>
            <a:r>
              <a:rPr sz="1600" b="1" spc="-19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т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140" dirty="0">
                <a:latin typeface="Trebuchet MS"/>
                <a:cs typeface="Trebuchet MS"/>
              </a:rPr>
              <a:t>уд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е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н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т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135" dirty="0">
                <a:latin typeface="Trebuchet MS"/>
                <a:cs typeface="Trebuchet MS"/>
              </a:rPr>
              <a:t>Н</a:t>
            </a:r>
            <a:r>
              <a:rPr lang="ru-RU" sz="1600" b="1" spc="135" dirty="0">
                <a:latin typeface="Trebuchet MS"/>
                <a:cs typeface="Trebuchet MS"/>
              </a:rPr>
              <a:t>ПИ-</a:t>
            </a:r>
            <a:r>
              <a:rPr sz="1600" b="1" spc="135" dirty="0" err="1">
                <a:latin typeface="Trebuchet MS"/>
                <a:cs typeface="Trebuchet MS"/>
              </a:rPr>
              <a:t>б</a:t>
            </a:r>
            <a:r>
              <a:rPr sz="1600" b="1" spc="-10" dirty="0" err="1">
                <a:latin typeface="Trebuchet MS"/>
                <a:cs typeface="Trebuchet MS"/>
              </a:rPr>
              <a:t>д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-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0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lang="ru-RU" sz="1600" b="1" spc="-10" dirty="0">
                <a:latin typeface="Trebuchet MS"/>
                <a:cs typeface="Trebuchet MS"/>
              </a:rPr>
              <a:t>2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-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2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lang="ru-RU" sz="1600" b="1" spc="-50" dirty="0">
                <a:latin typeface="Trebuchet MS"/>
                <a:cs typeface="Trebuchet MS"/>
              </a:rPr>
              <a:t>3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9247" y="622293"/>
            <a:ext cx="2840355" cy="10972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b="1" spc="-10" dirty="0">
                <a:latin typeface="Trebuchet MS"/>
                <a:cs typeface="Trebuchet MS"/>
              </a:rPr>
              <a:t>1</a:t>
            </a:r>
            <a:r>
              <a:rPr lang="ru-RU" sz="1600" b="1" spc="-185" dirty="0">
                <a:latin typeface="Trebuchet MS"/>
                <a:cs typeface="Trebuchet MS"/>
              </a:rPr>
              <a:t>1 3 2 2 2 1 5 5 1</a:t>
            </a:r>
            <a:endParaRPr sz="1600" dirty="0">
              <a:latin typeface="Trebuchet MS"/>
              <a:cs typeface="Trebuchet MS"/>
            </a:endParaRPr>
          </a:p>
          <a:p>
            <a:pPr marL="91440" marR="5080">
              <a:lnSpc>
                <a:spcPts val="3170"/>
              </a:lnSpc>
            </a:pPr>
            <a:r>
              <a:rPr sz="2200" dirty="0">
                <a:solidFill>
                  <a:srgbClr val="595958"/>
                </a:solidFill>
                <a:latin typeface="Trebuchet MS"/>
                <a:cs typeface="Trebuchet MS"/>
              </a:rPr>
              <a:t>На</a:t>
            </a:r>
            <a:r>
              <a:rPr sz="2200" spc="-35" dirty="0">
                <a:solidFill>
                  <a:srgbClr val="595958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595958"/>
                </a:solidFill>
                <a:latin typeface="Trebuchet MS"/>
                <a:cs typeface="Trebuchet MS"/>
              </a:rPr>
              <a:t>фоне</a:t>
            </a:r>
            <a:r>
              <a:rPr sz="2200" spc="-10" dirty="0">
                <a:solidFill>
                  <a:srgbClr val="595958"/>
                </a:solidFill>
                <a:latin typeface="Trebuchet MS"/>
                <a:cs typeface="Trebuchet MS"/>
              </a:rPr>
              <a:t> размещайте изображение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088" y="660803"/>
            <a:ext cx="20358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836930" algn="l"/>
                <a:tab pos="1412875" algn="l"/>
                <a:tab pos="1705610" algn="l"/>
                <a:tab pos="1779905" algn="l"/>
              </a:tabLst>
            </a:pPr>
            <a:r>
              <a:rPr sz="1600" b="1" dirty="0">
                <a:latin typeface="Trebuchet MS"/>
                <a:cs typeface="Trebuchet MS"/>
              </a:rPr>
              <a:t>С</a:t>
            </a:r>
            <a:r>
              <a:rPr sz="1600" b="1" spc="-19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т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у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д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.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б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и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л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114" dirty="0">
                <a:latin typeface="Trebuchet MS"/>
                <a:cs typeface="Trebuchet MS"/>
              </a:rPr>
              <a:t>ет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25" dirty="0">
                <a:latin typeface="Trebuchet MS"/>
                <a:cs typeface="Trebuchet MS"/>
              </a:rPr>
              <a:t>№</a:t>
            </a:r>
            <a:r>
              <a:rPr sz="1600" b="1" spc="-185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: </a:t>
            </a:r>
            <a:r>
              <a:rPr lang="ru-RU" sz="1600" b="1" spc="135" dirty="0">
                <a:latin typeface="Trebuchet MS"/>
                <a:cs typeface="Trebuchet MS"/>
              </a:rPr>
              <a:t>Ко </a:t>
            </a:r>
            <a:r>
              <a:rPr lang="ru-RU" sz="1600" b="1" spc="-10" dirty="0">
                <a:latin typeface="Trebuchet MS"/>
                <a:cs typeface="Trebuchet MS"/>
              </a:rPr>
              <a:t>А</a:t>
            </a:r>
            <a:r>
              <a:rPr sz="1600" b="1" spc="-180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.</a:t>
            </a:r>
            <a:r>
              <a:rPr lang="ru-RU" sz="1600" b="1" spc="-50" dirty="0">
                <a:latin typeface="Trebuchet MS"/>
                <a:cs typeface="Trebuchet MS"/>
              </a:rPr>
              <a:t> </a:t>
            </a:r>
            <a:r>
              <a:rPr lang="ru-RU" sz="1600" b="1" spc="-20" dirty="0">
                <a:latin typeface="Trebuchet MS"/>
                <a:cs typeface="Trebuchet MS"/>
              </a:rPr>
              <a:t>Г</a:t>
            </a:r>
            <a:r>
              <a:rPr sz="1600" b="1" spc="-175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9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Цель</a:t>
            </a:r>
            <a:r>
              <a:rPr spc="-45" dirty="0"/>
              <a:t> </a:t>
            </a:r>
            <a:r>
              <a:rPr spc="-10" dirty="0"/>
              <a:t>работы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24" y="1256042"/>
            <a:ext cx="7467600" cy="8547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Изучение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принципов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технологий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Ethernet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Fast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Ethernet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Практическое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освоение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методик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оценки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работоспособности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сети,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построенной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на </a:t>
            </a:r>
            <a:r>
              <a:rPr sz="1600" dirty="0">
                <a:latin typeface="Calibri"/>
                <a:cs typeface="Calibri"/>
              </a:rPr>
              <a:t>базе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технологии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Ethernet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123" y="390143"/>
            <a:ext cx="2410968" cy="4389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91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Постановка</a:t>
            </a:r>
            <a:r>
              <a:rPr spc="-1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задачи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123" y="390143"/>
            <a:ext cx="2410968" cy="43891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07699" y="1473706"/>
          <a:ext cx="5258434" cy="2518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35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№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marR="111760" indent="-971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96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TX,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92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44780" indent="-3492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80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109855" indent="-69850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11760" indent="-336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97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132715" indent="-3492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97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marR="111760" indent="-97155">
                        <a:lnSpc>
                          <a:spcPct val="101800"/>
                        </a:lnSpc>
                        <a:spcBef>
                          <a:spcPts val="1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TX,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85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44780" indent="-34925">
                        <a:lnSpc>
                          <a:spcPct val="101800"/>
                        </a:lnSpc>
                        <a:spcBef>
                          <a:spcPts val="1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85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09855" indent="-33655">
                        <a:lnSpc>
                          <a:spcPct val="101800"/>
                        </a:lnSpc>
                        <a:spcBef>
                          <a:spcPts val="1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11760" indent="-33655">
                        <a:lnSpc>
                          <a:spcPct val="101800"/>
                        </a:lnSpc>
                        <a:spcBef>
                          <a:spcPts val="1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132715" indent="-34925">
                        <a:lnSpc>
                          <a:spcPct val="101800"/>
                        </a:lnSpc>
                        <a:spcBef>
                          <a:spcPts val="1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98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marR="111760" indent="-971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TX,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95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44780" indent="-3492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109855" indent="-69850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11760" indent="-336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0335" marR="130810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marR="111760" indent="-971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TX,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65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44780" indent="-3492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109855" indent="-69850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11760" indent="-336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5260" marR="132715" indent="-3492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80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marR="111760" indent="-971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TX,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95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44780" indent="-3492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09855" indent="-336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11760" indent="-336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0335" marR="132080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marR="111760" indent="-971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TX,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98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44780" indent="-3492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109855" indent="-69850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4305" marR="111760" indent="-33655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70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0335" marR="132080">
                        <a:lnSpc>
                          <a:spcPct val="101800"/>
                        </a:lnSpc>
                        <a:spcBef>
                          <a:spcPts val="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100BASE-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TX,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м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Выполнение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работы.</a:t>
            </a:r>
          </a:p>
          <a:p>
            <a:pPr marL="127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Первая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модель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сети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Fast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Ethernet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24" y="1256042"/>
            <a:ext cx="6757670" cy="8547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99085" algn="l"/>
              </a:tabLst>
            </a:pPr>
            <a:r>
              <a:rPr sz="1600" spc="-10" dirty="0">
                <a:latin typeface="Calibri"/>
                <a:cs typeface="Calibri"/>
              </a:rPr>
              <a:t>Предельно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допустимый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диаметр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домена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коллизий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205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м.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99085" algn="l"/>
              </a:tabLst>
            </a:pPr>
            <a:r>
              <a:rPr sz="1600" spc="-10" dirty="0">
                <a:latin typeface="Calibri"/>
                <a:cs typeface="Calibri"/>
              </a:rPr>
              <a:t>Работоспособными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являются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конфигурации,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которых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длина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сегмента, соединяющего повторители,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более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5.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123" y="390143"/>
            <a:ext cx="2410968" cy="43891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11656" y="2383533"/>
          <a:ext cx="6394450" cy="1866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04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80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№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7655" marR="74295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92100" marR="79375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6230" marR="103505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08610" marR="95885" indent="-20764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7655" marR="74295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3210" marR="69850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39700">
                        <a:lnSpc>
                          <a:spcPct val="101800"/>
                        </a:lnSpc>
                        <a:spcBef>
                          <a:spcPts val="60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Длина домена коллизий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Длина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10350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сегмента, соединяющего повторители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467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357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Выполнение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работы.</a:t>
            </a:r>
          </a:p>
          <a:p>
            <a:pPr marL="127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Вторая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модель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сети</a:t>
            </a:r>
            <a:r>
              <a:rPr spc="-1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Fast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Ethernet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24" y="1256042"/>
            <a:ext cx="3210560" cy="20739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spc="-10" dirty="0">
                <a:latin typeface="Calibri"/>
                <a:cs typeface="Calibri"/>
              </a:rPr>
              <a:t>Наихудшие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пути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домене </a:t>
            </a:r>
            <a:r>
              <a:rPr sz="1600" spc="-10" dirty="0">
                <a:latin typeface="Calibri"/>
                <a:cs typeface="Calibri"/>
              </a:rPr>
              <a:t>коллизий: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4"/>
              </a:spcBef>
              <a:buAutoNum type="arabicPeriod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123" y="390143"/>
            <a:ext cx="2410968" cy="4389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Выполнение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работы.</a:t>
            </a:r>
          </a:p>
          <a:p>
            <a:pPr marL="12700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Вторая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модель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сети</a:t>
            </a:r>
            <a:r>
              <a:rPr spc="-1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Fast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Ethernet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21" y="1087335"/>
            <a:ext cx="7346950" cy="139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Время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двойного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оборота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сегментах: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длина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сегмента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умноженная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удельное </a:t>
            </a:r>
            <a:r>
              <a:rPr sz="1600" dirty="0">
                <a:latin typeface="Calibri"/>
                <a:cs typeface="Calibri"/>
              </a:rPr>
              <a:t>время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двойного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(1,112</a:t>
            </a:r>
            <a:r>
              <a:rPr sz="1600" spc="-20" dirty="0">
                <a:latin typeface="Calibri"/>
                <a:cs typeface="Calibri"/>
              </a:rPr>
              <a:t> би/м)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Время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двойного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оборота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повторителя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класса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II: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92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би/м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Время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двойного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оборота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пары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терминалов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интерфейсами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TX: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100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би/м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Сумма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всех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времен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оборота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должна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превышать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512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би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123" y="390143"/>
            <a:ext cx="2410968" cy="43891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60752" y="2621280"/>
          <a:ext cx="6386830" cy="1866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15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№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6230" marR="103505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1305" marR="67310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95275" marR="80645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04165" marR="91440" indent="-20764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87655" marR="74295" indent="-20637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4960" marR="101600" indent="-20764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Сегмент 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Сумма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7945" marR="112395">
                        <a:lnSpc>
                          <a:spcPct val="1018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времен двойного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оборота,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би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56210" algn="just">
                        <a:lnSpc>
                          <a:spcPct val="101800"/>
                        </a:lnSpc>
                        <a:spcBef>
                          <a:spcPts val="6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С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учетом запасных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би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504,176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508,176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598,696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602,696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506,4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510,4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473,04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477,04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60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517,52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521,52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98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28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514,184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518,184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7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9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Заключение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224" y="1256042"/>
            <a:ext cx="6956425" cy="8547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Изучены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принципы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технологий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Ethernet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Fast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Ethernet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Реализована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оценка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работоспособность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100-</a:t>
            </a:r>
            <a:r>
              <a:rPr sz="1600" dirty="0">
                <a:latin typeface="Calibri"/>
                <a:cs typeface="Calibri"/>
              </a:rPr>
              <a:t>мегабитной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сети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Fast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Ethernet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в </a:t>
            </a:r>
            <a:r>
              <a:rPr sz="1600" spc="-10" dirty="0">
                <a:latin typeface="Calibri"/>
                <a:cs typeface="Calibri"/>
              </a:rPr>
              <a:t>соответствии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первой и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второй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моделями.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123" y="390143"/>
            <a:ext cx="2410968" cy="4389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12950" y="4727820"/>
            <a:ext cx="16891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5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5437" y="2143162"/>
            <a:ext cx="34817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Спасибо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за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внимание!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6123" y="390143"/>
            <a:ext cx="2410968" cy="4389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12950" y="4727820"/>
            <a:ext cx="168910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200" spc="-5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634</Words>
  <Application>Microsoft Office PowerPoint</Application>
  <PresentationFormat>Экран (16:9)</PresentationFormat>
  <Paragraphs>239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Trebuchet MS</vt:lpstr>
      <vt:lpstr>Office Theme</vt:lpstr>
      <vt:lpstr>Презентация PowerPoint</vt:lpstr>
      <vt:lpstr>Цель работы</vt:lpstr>
      <vt:lpstr>Постановка задачи</vt:lpstr>
      <vt:lpstr>Выполнение работы. Первая модель сети Fast Ethernet</vt:lpstr>
      <vt:lpstr>Выполнение работы. Вторая модель сети Fast Ethernet</vt:lpstr>
      <vt:lpstr>Выполнение работы. Вторая модель сети Fast Ethernet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 В ДВЕ И БОЛЕЕ СТРОК</dc:title>
  <dc:creator>Непомнящий Евгений</dc:creator>
  <cp:lastModifiedBy>Ко Антон Геннадьевич</cp:lastModifiedBy>
  <cp:revision>1</cp:revision>
  <dcterms:created xsi:type="dcterms:W3CDTF">2026-02-08T18:09:50Z</dcterms:created>
  <dcterms:modified xsi:type="dcterms:W3CDTF">2026-02-08T18:11:13Z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2023-09-11T00:00:00Z</vt:filetime>
  </property>
  <property fmtid="{D5CDD505-2E9C-101B-9397-08002B2CF9AE}" pid="3" name="Creator">
    <vt:lpwstr>Acrobat PDFMaker 11 для PowerPoint</vt:lpwstr>
  </property>
  <property fmtid="{D5CDD505-2E9C-101B-9397-08002B2CF9AE}" pid="4" name="LastSaved">
    <vt:filetime>2026-02-08T00:00:00Z</vt:filetime>
  </property>
  <property fmtid="{D5CDD505-2E9C-101B-9397-08002B2CF9AE}" pid="5" name="Producer">
    <vt:lpwstr>3-Heights(TM) PDF Security Shell 4.8.25.2 (http://www.pdf-tools.com)</vt:lpwstr>
  </property>
</Properties>
</file>